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6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Georgia"/>
              </a:rPr>
              <a:t>GEORGIA TECH · HUMAN-AUGMENTED ANALYTICS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601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706A58"/>
                </a:solidFill>
                <a:latin typeface="Georgia"/>
              </a:rPr>
              <a:t>Spatial Camera-Trap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Cliff [[FILL: surname]]  ·  Kefei Yan  ·  Jacquie Carroll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Neelima Pandey  ·  John Hiedo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9601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06A58"/>
                </a:solidFill>
                <a:latin typeface="Arial"/>
              </a:rPr>
              <a:t>Advisors:  Jenny McGuire  ·  Steve Mussmann  ·  Emily Weigel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OMSCS Conference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457200"/>
            <a:ext cx="10607040" cy="2011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600" b="1" i="0">
                <a:solidFill>
                  <a:srgbClr val="1F1F1F"/>
                </a:solidFill>
                <a:latin typeface="Georgia"/>
              </a:rPr>
              <a:t>Do cameras and range maps see the same biodiversity?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25603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1F3A5F"/>
                </a:solidFill>
                <a:latin typeface="Georgia"/>
              </a:rPr>
              <a:t>Bridging Empirical and Modeled Biodiversity:  Snapshot USA × IUCN × COMBINE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20848320" cy="457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680460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3680460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Motivation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00600"/>
            <a:ext cx="969264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Across the U.S., camera traps record mammals through Snapshot USA (SSUSA). IUCN Red List maps — drawn largely from expert opinion — are the global standard for species ranges. The two views of biodiversity are rarely checked against each other, so misalignments persist unnoticed in conservation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" y="7680960"/>
            <a:ext cx="73152" cy="155448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589520"/>
            <a:ext cx="9418319" cy="1737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0" i="1">
                <a:solidFill>
                  <a:srgbClr val="1F3A5F"/>
                </a:solidFill>
                <a:latin typeface="Georgia"/>
              </a:rPr>
              <a:t>“When maps and cameras disagree, which one should we trust?”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47119" y="3611880"/>
            <a:ext cx="10149840" cy="7406640"/>
          </a:xfrm>
          <a:prstGeom prst="rect">
            <a:avLst/>
          </a:prstGeom>
          <a:solidFill>
            <a:srgbClr val="F6EFD8"/>
          </a:solidFill>
          <a:ln w="190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19" y="3611880"/>
            <a:ext cx="10149840" cy="7406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0" i="1">
                <a:solidFill>
                  <a:srgbClr val="706A58"/>
                </a:solidFill>
                <a:latin typeface="Arial"/>
              </a:rPr>
              <a:t>[[HERO VISUAL — SSUSA ∩ IUCN across the contiguous U.S. + AK + HI]]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1106424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Hero: cross-source agreement mapped by ecoregion.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8846819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20" y="8846819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Data Sources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877824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877824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SSUSA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713,319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109 species  ·  2019–2024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04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IUCN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004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733 polygons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04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575 species  ·  Red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712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COMBINE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712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712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6,110 species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712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Body-mass traits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11955780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20" y="11955780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Body-Mass Strata — where SAC is computed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11887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11887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13167360"/>
            <a:ext cx="3803904" cy="36576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≤ 50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small-bodied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9744" y="13167360"/>
            <a:ext cx="3803904" cy="36576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09744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50–100 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9744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8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70848" y="13167360"/>
            <a:ext cx="3803904" cy="36576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0848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8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100–500 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20472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331952" y="13167360"/>
            <a:ext cx="3803904" cy="36576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331952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331952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500–1000 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331952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medium-large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181576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593056" y="13167360"/>
            <a:ext cx="3803904" cy="36576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593056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593056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≥ 1000 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93056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large-bodied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1560" y="14881859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4520" y="14881859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Results</a:t>
            </a:r>
          </a:p>
        </p:txBody>
      </p:sp>
      <p:sp>
        <p:nvSpPr>
          <p:cNvPr id="80" name="Oval 79"/>
          <p:cNvSpPr/>
          <p:nvPr/>
        </p:nvSpPr>
        <p:spPr>
          <a:xfrm>
            <a:off x="548640" y="148132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148132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④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16093439"/>
            <a:ext cx="5829299" cy="4480559"/>
          </a:xfrm>
          <a:prstGeom prst="rect">
            <a:avLst/>
          </a:prstGeom>
          <a:solidFill>
            <a:srgbClr val="F6EFD8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16093439"/>
            <a:ext cx="5829299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0" i="1">
                <a:solidFill>
                  <a:srgbClr val="706A58"/>
                </a:solidFill>
                <a:latin typeface="Arial"/>
              </a:rPr>
              <a:t>[[FIGURE — SAC completeness curves by strata]]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Species-accumulation curves — when does an array look complete?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937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+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83779" y="16093439"/>
            <a:ext cx="5829299" cy="4480559"/>
          </a:xfrm>
          <a:prstGeom prst="rect">
            <a:avLst/>
          </a:prstGeom>
          <a:solidFill>
            <a:srgbClr val="F6EFD8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83779" y="16093439"/>
            <a:ext cx="5829299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0" i="1">
                <a:solidFill>
                  <a:srgbClr val="706A58"/>
                </a:solidFill>
                <a:latin typeface="Arial"/>
              </a:rPr>
              <a:t>[[FIGURE — CI-gap upper bound by effort]]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3779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Binomial CI-gap — how many species could still be missing?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0451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=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218919" y="16093439"/>
            <a:ext cx="7178040" cy="1828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493240" y="16093439"/>
            <a:ext cx="66294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F6EFD8"/>
                </a:solidFill>
                <a:latin typeface="Georgia"/>
              </a:rPr>
              <a:t>SAC alone misclassifies 4.4% of array-years as adequate.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218919" y="18059399"/>
            <a:ext cx="7178040" cy="2514600"/>
          </a:xfrm>
          <a:prstGeom prst="rect">
            <a:avLst/>
          </a:prstGeom>
          <a:solidFill>
            <a:srgbClr val="F6EFD8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4218919" y="18059399"/>
            <a:ext cx="7178040" cy="2514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1">
                <a:solidFill>
                  <a:srgbClr val="706A58"/>
                </a:solidFill>
                <a:latin typeface="Arial"/>
              </a:rPr>
              <a:t>[[HEADLINE FIGURE — 2×2 SAC × CI-gap]]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218919" y="20619719"/>
            <a:ext cx="7178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False-plateau array-years — apparent completeness but missed species.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" y="21099780"/>
            <a:ext cx="964691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74520" y="21099780"/>
            <a:ext cx="873251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Supporting Analysis</a:t>
            </a:r>
          </a:p>
        </p:txBody>
      </p:sp>
      <p:sp>
        <p:nvSpPr>
          <p:cNvPr id="97" name="Oval 96"/>
          <p:cNvSpPr/>
          <p:nvPr/>
        </p:nvSpPr>
        <p:spPr>
          <a:xfrm>
            <a:off x="548640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59" y="22219920"/>
            <a:ext cx="96012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Community composition is most stable for mammals above 100 g. Below 50 g, sparse detections drive high variance in both accumulation curves and IUCN overlap. Multi-year rollups (2019–2024) dampen single-year noise. Calendar-night effort — not camera-night, which inflates ~10× — is the correct denominator when pooling across arrays.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2959" y="25466039"/>
            <a:ext cx="9601200" cy="3108960"/>
          </a:xfrm>
          <a:prstGeom prst="rect">
            <a:avLst/>
          </a:prstGeom>
          <a:solidFill>
            <a:srgbClr val="F6EFD8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959" y="25466039"/>
            <a:ext cx="9601200" cy="3108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1">
                <a:solidFill>
                  <a:srgbClr val="706A58"/>
                </a:solidFill>
                <a:latin typeface="Arial"/>
              </a:rPr>
              <a:t>[[SUPPORTING FIGURE]]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750039" y="21099780"/>
            <a:ext cx="964692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572999" y="21099780"/>
            <a:ext cx="873252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Takeaways &amp; Next Steps</a:t>
            </a:r>
          </a:p>
        </p:txBody>
      </p:sp>
      <p:sp>
        <p:nvSpPr>
          <p:cNvPr id="104" name="Oval 103"/>
          <p:cNvSpPr/>
          <p:nvPr/>
        </p:nvSpPr>
        <p:spPr>
          <a:xfrm>
            <a:off x="11247119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47119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⑥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521440" y="2234793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722607" y="2221992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Empirical and modeled biodiversity views mostly agree for mid-sized mammals.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521440" y="2335377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722607" y="2322576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SAC alone under-reports sampling gaps; the CI-gap classifier catches false plateaus.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521440" y="2435961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722607" y="2423160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Cross-source validation is a cheap, reproducible audit for any camera-trap benchmark.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521440" y="2536545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722607" y="2523744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Next: extend to body-mass and guild-level stratified audits across all SSUSA years.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21440" y="26517600"/>
            <a:ext cx="85039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github.com / cliff003/ HAAG_Spatial_Camera_Trap_Fall2025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706A58"/>
                </a:solidFill>
                <a:latin typeface="Arial"/>
              </a:rPr>
              <a:t>[[QR]]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7007840" y="27889200"/>
            <a:ext cx="4389120" cy="2377440"/>
          </a:xfrm>
          <a:prstGeom prst="rect">
            <a:avLst/>
          </a:prstGeom>
          <a:solidFill>
            <a:srgbClr val="E8DEBF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7007840" y="27889200"/>
            <a:ext cx="4389120" cy="2377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[[FIELD-PLATE ILLUSTRATION]]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3063240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978140" y="30742127"/>
            <a:ext cx="502920" cy="274320"/>
          </a:xfrm>
          <a:prstGeom prst="rect">
            <a:avLst/>
          </a:prstGeom>
          <a:solidFill>
            <a:srgbClr val="F6EFD8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8867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#F6EFD8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26780" y="30742127"/>
            <a:ext cx="502920" cy="274320"/>
          </a:xfrm>
          <a:prstGeom prst="rect">
            <a:avLst/>
          </a:prstGeom>
          <a:solidFill>
            <a:srgbClr val="E8D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353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#E8DEBF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75420" y="30742127"/>
            <a:ext cx="502920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839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#1F1F1F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624060" y="30742127"/>
            <a:ext cx="502920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326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#1F3A5F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172700" y="30742127"/>
            <a:ext cx="502920" cy="2743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812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#C7623C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721340" y="30742127"/>
            <a:ext cx="502920" cy="27432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299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#3F6B3A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69980" y="30742127"/>
            <a:ext cx="502920" cy="27432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1785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#D9B24F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818620" y="30742127"/>
            <a:ext cx="502920" cy="27432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7271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#6FA0B8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367260" y="30742127"/>
            <a:ext cx="502920" cy="27432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2758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#B5785A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2915900" y="30742127"/>
            <a:ext cx="502920" cy="274320"/>
          </a:xfrm>
          <a:prstGeom prst="rect">
            <a:avLst/>
          </a:prstGeom>
          <a:solidFill>
            <a:srgbClr val="70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8244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#706A58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464540" y="30742127"/>
            <a:ext cx="502920" cy="274320"/>
          </a:xfrm>
          <a:prstGeom prst="rect">
            <a:avLst/>
          </a:prstGeom>
          <a:solidFill>
            <a:srgbClr val="CF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33731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#CFC7AB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Human-Augmented Analytics Group · Georgia Tech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706A58"/>
                </a:solidFill>
                <a:latin typeface="Arial"/>
              </a:rPr>
              <a:t>OMSCS Conference 2026 · Poster &amp; Demo Session · May 12, 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630400" y="31565087"/>
            <a:ext cx="6766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706A58"/>
                </a:solidFill>
                <a:latin typeface="Arial"/>
              </a:rPr>
              <a:t>[[FILL: presenter email]]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00" y="3259836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r"/>
            <a:r>
              <a:rPr sz="800" b="0" i="0">
                <a:solidFill>
                  <a:srgbClr val="B4B4B4"/>
                </a:solidFill>
                <a:latin typeface="Arial"/>
              </a:rPr>
              <a:t>v0.4.0 · 2026-04-20 17:28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