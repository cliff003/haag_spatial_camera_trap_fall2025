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0" cy="32918400"/>
          </a:xfrm>
          <a:prstGeom prst="rect">
            <a:avLst/>
          </a:prstGeom>
          <a:solidFill>
            <a:srgbClr val="F7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0" cy="365760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30168"/>
            <a:ext cx="21945600" cy="27432"/>
          </a:xfrm>
          <a:prstGeom prst="rect">
            <a:avLst/>
          </a:prstGeom>
          <a:solidFill>
            <a:srgbClr val="B3A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18872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Georgia"/>
              </a:rPr>
              <a:t>Snapshot USA vs. IUCN: do they agree?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188720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0" i="1">
                <a:solidFill>
                  <a:srgbClr val="B3A369"/>
                </a:solidFill>
                <a:latin typeface="Arial"/>
              </a:rPr>
              <a:t>Bridging Empirical and Modeled Biodiversity: Evaluating Community Composition and Stability Using Snapshot USA and IUCN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1887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Arial"/>
              </a:rPr>
              <a:t>Cliff [[FILL: surname]], Kefei Yan, Jacquie Carroll, Neelima Pandey, John Hiedo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11887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Advisors: Jenny McGuire (ecometrics) · Steve Mussmann (data-centric ML) · Emily Weigel (SSUSA co-author)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46120"/>
            <a:ext cx="1188720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Georgia Institute of Technology · Human-Augmented Analytics Group · OMSCS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339560" y="320040"/>
            <a:ext cx="2286000" cy="640080"/>
          </a:xfrm>
          <a:prstGeom prst="roundRect">
            <a:avLst/>
          </a:prstGeom>
          <a:solidFill>
            <a:srgbClr val="B3A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339560" y="320040"/>
            <a:ext cx="22860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03057"/>
                </a:solidFill>
                <a:latin typeface="Georgia"/>
              </a:rPr>
              <a:t>OMSCS Conference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0" y="457200"/>
            <a:ext cx="5943600" cy="3017520"/>
          </a:xfrm>
          <a:prstGeom prst="rect">
            <a:avLst/>
          </a:prstGeom>
          <a:solidFill>
            <a:srgbClr val="003057"/>
          </a:solidFill>
          <a:ln w="19050">
            <a:solidFill>
              <a:srgbClr val="B3A36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0" y="457200"/>
            <a:ext cx="5943600" cy="3017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Arial"/>
              </a:rPr>
              <a:t>[[HERO VISUAL — aspect ~2:1]]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9281160"/>
            <a:ext cx="20574000" cy="27432"/>
          </a:xfrm>
          <a:prstGeom prst="rect">
            <a:avLst/>
          </a:prstGeom>
          <a:solidFill>
            <a:srgbClr val="B3A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5041880"/>
            <a:ext cx="20574000" cy="27432"/>
          </a:xfrm>
          <a:prstGeom prst="rect">
            <a:avLst/>
          </a:prstGeom>
          <a:solidFill>
            <a:srgbClr val="B3A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3911560"/>
            <a:ext cx="20574000" cy="27432"/>
          </a:xfrm>
          <a:prstGeom prst="rect">
            <a:avLst/>
          </a:prstGeom>
          <a:solidFill>
            <a:srgbClr val="B3A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19" y="3954780"/>
            <a:ext cx="1005840" cy="1005840"/>
          </a:xfrm>
          <a:prstGeom prst="ellipse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" y="395478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Georgia"/>
              </a:rPr>
              <a:t>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114800"/>
            <a:ext cx="89154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003057"/>
                </a:solidFill>
                <a:latin typeface="Georgia"/>
              </a:rPr>
              <a:t>Motivation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837176"/>
            <a:ext cx="10058400" cy="36576"/>
          </a:xfrm>
          <a:prstGeom prst="rect">
            <a:avLst/>
          </a:prstGeom>
          <a:solidFill>
            <a:srgbClr val="B3A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65192"/>
            <a:ext cx="10058400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1E1E1E"/>
                </a:solidFill>
                <a:latin typeface="Arial"/>
              </a:rPr>
              <a:t>Across the U.S., camera traps record mammal observations through Snapshot USA (SSUSA), while IUCN Red List maps — drawn largely from expert opinion — serve as the global standard for species ranges. These two views of biodiversity are rarely checked against each other, so misalignments persist unnoticed in conservation planning.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6931152"/>
            <a:ext cx="91440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200" b="0" i="1">
                <a:solidFill>
                  <a:srgbClr val="6E6E6E"/>
                </a:solidFill>
                <a:latin typeface="Georgia"/>
              </a:rPr>
              <a:t>“When maps and cameras disagree, which one should we trust?”</a:t>
            </a:r>
          </a:p>
        </p:txBody>
      </p:sp>
      <p:sp>
        <p:nvSpPr>
          <p:cNvPr id="23" name="Oval 22"/>
          <p:cNvSpPr/>
          <p:nvPr/>
        </p:nvSpPr>
        <p:spPr>
          <a:xfrm>
            <a:off x="10561319" y="3954780"/>
            <a:ext cx="1005840" cy="1005840"/>
          </a:xfrm>
          <a:prstGeom prst="ellipse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19" y="395478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Georgia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0" y="4114800"/>
            <a:ext cx="89154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003057"/>
                </a:solidFill>
                <a:latin typeface="Georgia"/>
              </a:rPr>
              <a:t>Research Questions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201400" y="4837176"/>
            <a:ext cx="10058400" cy="36576"/>
          </a:xfrm>
          <a:prstGeom prst="rect">
            <a:avLst/>
          </a:prstGeom>
          <a:solidFill>
            <a:srgbClr val="B3A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01400" y="4965192"/>
            <a:ext cx="10058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1E1E1E"/>
                </a:solidFill>
                <a:latin typeface="Arial"/>
              </a:rPr>
              <a:t>▸  Where do SSUSA detections and IUCN ranges agree or diverge?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5513831"/>
            <a:ext cx="10058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1E1E1E"/>
                </a:solidFill>
                <a:latin typeface="Arial"/>
              </a:rPr>
              <a:t>▸  How much empirical sampling stabilizes a community definition?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062472"/>
            <a:ext cx="10058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1E1E1E"/>
                </a:solidFill>
                <a:latin typeface="Arial"/>
              </a:rPr>
              <a:t>▸  Which mismatches signal real ecological change vs. sampling gaps?</a:t>
            </a:r>
          </a:p>
        </p:txBody>
      </p:sp>
      <p:sp>
        <p:nvSpPr>
          <p:cNvPr id="30" name="Oval 29"/>
          <p:cNvSpPr/>
          <p:nvPr/>
        </p:nvSpPr>
        <p:spPr>
          <a:xfrm>
            <a:off x="45719" y="9258300"/>
            <a:ext cx="1005840" cy="1005840"/>
          </a:xfrm>
          <a:prstGeom prst="ellipse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19" y="92583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Georgia"/>
              </a:rPr>
              <a:t>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9418320"/>
            <a:ext cx="194310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003057"/>
                </a:solidFill>
                <a:latin typeface="Georgia"/>
              </a:rPr>
              <a:t>Data &amp; Methods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10140696"/>
            <a:ext cx="20574000" cy="36576"/>
          </a:xfrm>
          <a:prstGeom prst="rect">
            <a:avLst/>
          </a:prstGeom>
          <a:solidFill>
            <a:srgbClr val="B3A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10268711"/>
            <a:ext cx="1005840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1E1E1E"/>
                </a:solidFill>
                <a:latin typeface="Arial"/>
              </a:rPr>
              <a:t>We merge SSUSA mammal detections (2019–2024; 713,319 records; 109 species) with IUCN Red List polygons (733, filtered to presence=1, origin∈{1,2,3}, seasonal∈{1,2}) and COMBINE body-mass traits (6,110 species).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10268711"/>
            <a:ext cx="1005840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1E1E1E"/>
                </a:solidFill>
                <a:latin typeface="Arial"/>
              </a:rPr>
              <a:t>Spatial joins in EPSG:5070 align camera buffers with range polygons across the lower-48, Alaska, and Hawaii. Species-accumulation curves at 50 / 100 / 500 / 1000 g body-mass strata quantify community completeness; a Binomial CI-gap classifier flags false plateaus.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11777472"/>
            <a:ext cx="20574000" cy="2560320"/>
          </a:xfrm>
          <a:prstGeom prst="rect">
            <a:avLst/>
          </a:prstGeom>
          <a:solidFill>
            <a:srgbClr val="F7F5EE"/>
          </a:solidFill>
          <a:ln w="12700">
            <a:solidFill>
              <a:srgbClr val="D5D2C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11777472"/>
            <a:ext cx="20574000" cy="2560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0" i="1">
                <a:solidFill>
                  <a:srgbClr val="6E6E6E"/>
                </a:solidFill>
                <a:latin typeface="Arial"/>
              </a:rPr>
              <a:t>[[FIGURE — full width, ~3" tall]]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14429232"/>
            <a:ext cx="20574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6E6E6E"/>
                </a:solidFill>
                <a:latin typeface="Arial"/>
              </a:rPr>
              <a:t>Pipeline: SSUSA × IUCN × COMBINE → cleaned/ artifacts → SAC + CI-gap analyses.</a:t>
            </a:r>
          </a:p>
        </p:txBody>
      </p:sp>
      <p:sp>
        <p:nvSpPr>
          <p:cNvPr id="39" name="Oval 38"/>
          <p:cNvSpPr/>
          <p:nvPr/>
        </p:nvSpPr>
        <p:spPr>
          <a:xfrm>
            <a:off x="45719" y="15019020"/>
            <a:ext cx="1005840" cy="1005840"/>
          </a:xfrm>
          <a:prstGeom prst="ellipse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19" y="1501902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Georgia"/>
              </a:rPr>
              <a:t>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5179040"/>
            <a:ext cx="194310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003057"/>
                </a:solidFill>
                <a:latin typeface="Georgia"/>
              </a:rPr>
              <a:t>Headline Result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15901416"/>
            <a:ext cx="20574000" cy="36576"/>
          </a:xfrm>
          <a:prstGeom prst="rect">
            <a:avLst/>
          </a:prstGeom>
          <a:solidFill>
            <a:srgbClr val="B3A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16029432"/>
            <a:ext cx="2057400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1E1E1E"/>
                </a:solidFill>
                <a:latin typeface="Georgia"/>
              </a:rPr>
              <a:t>SAC completeness alone misclassifies 4.4% of array-years as adequate.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16989552"/>
            <a:ext cx="12801600" cy="5486400"/>
          </a:xfrm>
          <a:prstGeom prst="rect">
            <a:avLst/>
          </a:prstGeom>
          <a:solidFill>
            <a:srgbClr val="F7F5EE"/>
          </a:solidFill>
          <a:ln w="12700">
            <a:solidFill>
              <a:srgbClr val="D5D2C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16989552"/>
            <a:ext cx="12801600" cy="5486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600" b="0" i="1">
                <a:solidFill>
                  <a:srgbClr val="6E6E6E"/>
                </a:solidFill>
                <a:latin typeface="Arial"/>
              </a:rPr>
              <a:t>[[HEADLINE FIGURE]]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22567392"/>
            <a:ext cx="20574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0" i="1">
                <a:solidFill>
                  <a:srgbClr val="6E6E6E"/>
                </a:solidFill>
                <a:latin typeface="Arial"/>
              </a:rPr>
              <a:t>False-plateau array-years look complete by the species-accumulation curve, but the Binomial CI-gap upper bound says species were missed.</a:t>
            </a:r>
          </a:p>
        </p:txBody>
      </p:sp>
      <p:sp>
        <p:nvSpPr>
          <p:cNvPr id="47" name="Oval 46"/>
          <p:cNvSpPr/>
          <p:nvPr/>
        </p:nvSpPr>
        <p:spPr>
          <a:xfrm>
            <a:off x="45719" y="23888700"/>
            <a:ext cx="1005840" cy="1005840"/>
          </a:xfrm>
          <a:prstGeom prst="ellipse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19" y="238887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Georgia"/>
              </a:rPr>
              <a:t>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24048720"/>
            <a:ext cx="89154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003057"/>
                </a:solidFill>
                <a:latin typeface="Georgia"/>
              </a:rPr>
              <a:t>Supporting Analysis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24771096"/>
            <a:ext cx="10058400" cy="36576"/>
          </a:xfrm>
          <a:prstGeom prst="rect">
            <a:avLst/>
          </a:prstGeom>
          <a:solidFill>
            <a:srgbClr val="B3A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24899112"/>
            <a:ext cx="100584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1E1E1E"/>
                </a:solidFill>
                <a:latin typeface="Arial"/>
              </a:rPr>
              <a:t>Community composition is most stable for mammals above 100 g. Below 50 g, sparse detections drive high variance in both accumulation curves and IUCN overlap. Multi-year rollups (2019–2024) dampen single-year noise.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29000" y="26499312"/>
            <a:ext cx="4572000" cy="4023360"/>
          </a:xfrm>
          <a:prstGeom prst="rect">
            <a:avLst/>
          </a:prstGeom>
          <a:solidFill>
            <a:srgbClr val="F7F5EE"/>
          </a:solidFill>
          <a:ln w="12700">
            <a:solidFill>
              <a:srgbClr val="D5D2C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29000" y="26499312"/>
            <a:ext cx="4572000" cy="4023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0" i="1">
                <a:solidFill>
                  <a:srgbClr val="6E6E6E"/>
                </a:solidFill>
                <a:latin typeface="Arial"/>
              </a:rPr>
              <a:t>[[SUPPORTING FIGURE]]</a:t>
            </a:r>
          </a:p>
        </p:txBody>
      </p:sp>
      <p:sp>
        <p:nvSpPr>
          <p:cNvPr id="54" name="Oval 53"/>
          <p:cNvSpPr/>
          <p:nvPr/>
        </p:nvSpPr>
        <p:spPr>
          <a:xfrm>
            <a:off x="10561319" y="23888700"/>
            <a:ext cx="1005840" cy="1005840"/>
          </a:xfrm>
          <a:prstGeom prst="ellipse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61319" y="238887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Georgia"/>
              </a:rPr>
              <a:t>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344400" y="24048720"/>
            <a:ext cx="89154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003057"/>
                </a:solidFill>
                <a:latin typeface="Georgia"/>
              </a:rPr>
              <a:t>Takeaways &amp; Next Steps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201400" y="24771096"/>
            <a:ext cx="10058400" cy="36576"/>
          </a:xfrm>
          <a:prstGeom prst="rect">
            <a:avLst/>
          </a:prstGeom>
          <a:solidFill>
            <a:srgbClr val="B3A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201400" y="24899112"/>
            <a:ext cx="100584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1E1E1E"/>
                </a:solidFill>
                <a:latin typeface="Arial"/>
              </a:rPr>
              <a:t>▸  Empirical and modeled views mostly agree for mid-sized mammals.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01400" y="25493472"/>
            <a:ext cx="100584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1E1E1E"/>
                </a:solidFill>
                <a:latin typeface="Arial"/>
              </a:rPr>
              <a:t>▸  SAC alone under-reports sampling gaps; CI-gap catches false plateaus.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01400" y="26087832"/>
            <a:ext cx="100584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1E1E1E"/>
                </a:solidFill>
                <a:latin typeface="Arial"/>
              </a:rPr>
              <a:t>▸  Cross-source validation audits any camera-trap benchmark cheaply.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01400" y="26956512"/>
            <a:ext cx="8869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6E6E6E"/>
                </a:solidFill>
                <a:latin typeface="Arial"/>
              </a:rPr>
              <a:t>github.com/cliff003/HAAG_Spatial_Camera_Trap_Fall2025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162520" y="29900880"/>
            <a:ext cx="1097280" cy="1097280"/>
          </a:xfrm>
          <a:prstGeom prst="rect">
            <a:avLst/>
          </a:prstGeom>
          <a:solidFill>
            <a:srgbClr val="F7F5EE"/>
          </a:solidFill>
          <a:ln w="12700">
            <a:solidFill>
              <a:srgbClr val="D5D2C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162520" y="29900880"/>
            <a:ext cx="109728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0" i="1">
                <a:solidFill>
                  <a:srgbClr val="6E6E6E"/>
                </a:solidFill>
                <a:latin typeface="Arial"/>
              </a:rPr>
              <a:t>[[QR to repo]]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" y="5120640"/>
            <a:ext cx="548640" cy="731520"/>
          </a:xfrm>
          <a:prstGeom prst="roundRect">
            <a:avLst/>
          </a:prstGeom>
          <a:solidFill>
            <a:srgbClr val="D5D2C8"/>
          </a:solidFill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" y="5120640"/>
            <a:ext cx="5486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6E6E6E"/>
                </a:solidFill>
                <a:latin typeface="Arial"/>
              </a:rPr>
              <a:t>[[SILHOUETTE]]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1351240" y="10972800"/>
            <a:ext cx="548640" cy="914400"/>
          </a:xfrm>
          <a:prstGeom prst="roundRect">
            <a:avLst/>
          </a:prstGeom>
          <a:solidFill>
            <a:srgbClr val="D5D2C8"/>
          </a:solidFill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351240" y="10972800"/>
            <a:ext cx="54864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6E6E6E"/>
                </a:solidFill>
                <a:latin typeface="Arial"/>
              </a:rPr>
              <a:t>[[SILHOUETTE]]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" y="26060400"/>
            <a:ext cx="548640" cy="731520"/>
          </a:xfrm>
          <a:prstGeom prst="roundRect">
            <a:avLst/>
          </a:prstGeom>
          <a:solidFill>
            <a:srgbClr val="D5D2C8"/>
          </a:solidFill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" y="26060400"/>
            <a:ext cx="5486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6E6E6E"/>
                </a:solidFill>
                <a:latin typeface="Arial"/>
              </a:rPr>
              <a:t>[[SILHOUETTE]]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9659600" y="1097280"/>
            <a:ext cx="731520" cy="548640"/>
          </a:xfrm>
          <a:prstGeom prst="roundRect">
            <a:avLst/>
          </a:prstGeom>
          <a:solidFill>
            <a:srgbClr val="D5D2C8"/>
          </a:solidFill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9659600" y="1097280"/>
            <a:ext cx="73152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6E6E6E"/>
                </a:solidFill>
                <a:latin typeface="Arial"/>
              </a:rPr>
              <a:t>[[SILHOUETTE]]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23760" y="31089600"/>
            <a:ext cx="640080" cy="32004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2320" y="31437072"/>
            <a:ext cx="822959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Arial"/>
              </a:rPr>
              <a:t>#003057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09560" y="31089600"/>
            <a:ext cx="640080" cy="320040"/>
          </a:xfrm>
          <a:prstGeom prst="rect">
            <a:avLst/>
          </a:prstGeom>
          <a:solidFill>
            <a:srgbClr val="B3A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818120" y="31437072"/>
            <a:ext cx="822959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Arial"/>
              </a:rPr>
              <a:t>#B3A369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95360" y="31089600"/>
            <a:ext cx="640080" cy="320040"/>
          </a:xfrm>
          <a:prstGeom prst="rect">
            <a:avLst/>
          </a:prstGeom>
          <a:solidFill>
            <a:srgbClr val="2B6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03920" y="31437072"/>
            <a:ext cx="822959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Arial"/>
              </a:rPr>
              <a:t>#2B6A8F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281160" y="31089600"/>
            <a:ext cx="640080" cy="320040"/>
          </a:xfrm>
          <a:prstGeom prst="rect">
            <a:avLst/>
          </a:prstGeom>
          <a:solidFill>
            <a:srgbClr val="C05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89720" y="31437072"/>
            <a:ext cx="822959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Arial"/>
              </a:rPr>
              <a:t>#C05746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66960" y="31089600"/>
            <a:ext cx="640080" cy="320040"/>
          </a:xfrm>
          <a:prstGeom prst="rect">
            <a:avLst/>
          </a:prstGeom>
          <a:solidFill>
            <a:srgbClr val="6B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75520" y="31437072"/>
            <a:ext cx="822959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Arial"/>
              </a:rPr>
              <a:t>#6B8E5A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652760" y="31089600"/>
            <a:ext cx="640080" cy="320040"/>
          </a:xfrm>
          <a:prstGeom prst="rect">
            <a:avLst/>
          </a:prstGeom>
          <a:solidFill>
            <a:srgbClr val="7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561320" y="31437072"/>
            <a:ext cx="822959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Arial"/>
              </a:rPr>
              <a:t>#7B5E7B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338560" y="31089600"/>
            <a:ext cx="640080" cy="320040"/>
          </a:xfrm>
          <a:prstGeom prst="rect">
            <a:avLst/>
          </a:prstGeom>
          <a:solidFill>
            <a:srgbClr val="D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247120" y="31437072"/>
            <a:ext cx="822959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Arial"/>
              </a:rPr>
              <a:t>#D49A3A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2024360" y="31089600"/>
            <a:ext cx="640080" cy="320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932920" y="31437072"/>
            <a:ext cx="822959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Arial"/>
              </a:rPr>
              <a:t>#1E1E1E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710160" y="31089600"/>
            <a:ext cx="640080" cy="32004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618720" y="31437072"/>
            <a:ext cx="822959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Arial"/>
              </a:rPr>
              <a:t>#6E6E6E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395960" y="31089600"/>
            <a:ext cx="640080" cy="320040"/>
          </a:xfrm>
          <a:prstGeom prst="rect">
            <a:avLst/>
          </a:prstGeom>
          <a:solidFill>
            <a:srgbClr val="D5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3304520" y="31437072"/>
            <a:ext cx="822959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Arial"/>
              </a:rPr>
              <a:t>#D5D2C8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4081760" y="31089600"/>
            <a:ext cx="640080" cy="320040"/>
          </a:xfrm>
          <a:prstGeom prst="rect">
            <a:avLst/>
          </a:prstGeom>
          <a:solidFill>
            <a:srgbClr val="F7F5EE"/>
          </a:solidFill>
          <a:ln w="6350">
            <a:solidFill>
              <a:srgbClr val="D5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990320" y="31437072"/>
            <a:ext cx="822959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Arial"/>
              </a:rPr>
              <a:t>#F7F5EE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31519368"/>
            <a:ext cx="21945600" cy="27432"/>
          </a:xfrm>
          <a:prstGeom prst="rect">
            <a:avLst/>
          </a:prstGeom>
          <a:solidFill>
            <a:srgbClr val="B3A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0" y="31546800"/>
            <a:ext cx="21945600" cy="137160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5800" y="32095440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Georgia Tech · Human-Augmented Analytics Group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86600" y="32095440"/>
            <a:ext cx="77724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OMSCS Conference 2026 · Poster &amp; Demo Session · May 12, 2026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859000" y="32095440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Arial"/>
              </a:rPr>
              <a:t>[[FILL: presenter email]]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745200" y="32662368"/>
            <a:ext cx="2743200" cy="18288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r"/>
            <a:r>
              <a:rPr sz="800" b="0" i="0">
                <a:solidFill>
                  <a:srgbClr val="C8C8C8"/>
                </a:solidFill>
                <a:latin typeface="Arial"/>
              </a:rPr>
              <a:t>v0.1.0 · 2026-04-18 17:19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