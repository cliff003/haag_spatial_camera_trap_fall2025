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6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7432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8686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Georgia"/>
              </a:rPr>
              <a:t>GEORGIA TECH · HUMAN-AUGMENTED ANALYTICS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6012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706A58"/>
                </a:solidFill>
                <a:latin typeface="Georgia"/>
              </a:rPr>
              <a:t>Spatial Camera-Trap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Cliff [[FILL: surname]]  ·  Kefei Yan  ·  Jacquie Carroll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9601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1F1F1F"/>
                </a:solidFill>
                <a:latin typeface="Arial"/>
              </a:rPr>
              <a:t>Neelima Pandey  ·  John Hiedo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9601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06A58"/>
                </a:solidFill>
                <a:latin typeface="Arial"/>
              </a:rPr>
              <a:t>Advisors:  Jenny McGuire  ·  Steve Mussmann  ·  Emily Weigel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3108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eorgia"/>
              </a:rPr>
              <a:t>OMSCS Conference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457200"/>
            <a:ext cx="10607040" cy="2011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600" b="1" i="0">
                <a:solidFill>
                  <a:srgbClr val="1F1F1F"/>
                </a:solidFill>
                <a:latin typeface="Georgia"/>
              </a:rPr>
              <a:t>Do cameras and range maps see the same biodiversity?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256032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1">
                <a:solidFill>
                  <a:srgbClr val="1F3A5F"/>
                </a:solidFill>
                <a:latin typeface="Georgia"/>
              </a:rPr>
              <a:t>Bridging Empirical and Modeled Biodiversity:  Snapshot USA × IUCN × COMBINE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91840"/>
            <a:ext cx="20848320" cy="457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680460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20" y="3680460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Motivation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118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4800600"/>
            <a:ext cx="969264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Across the U.S., camera traps record mammals through Snapshot USA (SSUSA). IUCN Red List maps — drawn largely from expert opinion — are the global standard for species ranges. The two views of biodiversity are rarely checked against each other, so misalignments persist unnoticed in conservation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59" y="7680960"/>
            <a:ext cx="73152" cy="155448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7589520"/>
            <a:ext cx="9418319" cy="1737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200" b="0" i="1">
                <a:solidFill>
                  <a:srgbClr val="1F3A5F"/>
                </a:solidFill>
                <a:latin typeface="Georgia"/>
              </a:rPr>
              <a:t>“When maps and cameras disagree, which one should we trust?”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19" y="11064240"/>
            <a:ext cx="101498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Hero: cross-source agreement mapped by ecoregion.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1560" y="8846819"/>
            <a:ext cx="973835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20" y="8846819"/>
            <a:ext cx="882395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Data Sources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877824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877824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SSUSA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59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713,319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109 species  ·  2019–2024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04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IUCN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3004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3004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733 polygons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004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575 species  ·  Red 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37120" y="10012680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Georgia"/>
              </a:rPr>
              <a:t>COMBINE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37120" y="10360152"/>
            <a:ext cx="822960" cy="27432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37120" y="10451592"/>
            <a:ext cx="3078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F1F1F"/>
                </a:solidFill>
                <a:latin typeface="Arial"/>
              </a:rPr>
              <a:t>6,110 species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7120" y="10789919"/>
            <a:ext cx="30784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Body-mass traits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" y="11955780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74520" y="11955780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Body-Mass Strata — where SAC is computed</a:t>
            </a:r>
          </a:p>
        </p:txBody>
      </p:sp>
      <p:sp>
        <p:nvSpPr>
          <p:cNvPr id="42" name="Oval 41"/>
          <p:cNvSpPr/>
          <p:nvPr/>
        </p:nvSpPr>
        <p:spPr>
          <a:xfrm>
            <a:off x="548640" y="11887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11887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③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13167360"/>
            <a:ext cx="3803904" cy="36576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≤ 50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small-bodied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09420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98264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9744" y="13167360"/>
            <a:ext cx="3803904" cy="36576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09744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9744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50–100 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9744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small-medium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0524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59368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70848" y="13167360"/>
            <a:ext cx="3803904" cy="36576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70848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70848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100–500 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70848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31628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920472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331952" y="13167360"/>
            <a:ext cx="3803904" cy="36576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331952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331952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500–1000 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331952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medium-large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092732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181576" y="13533120"/>
            <a:ext cx="365760" cy="1463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200" b="1" i="0">
                <a:solidFill>
                  <a:srgbClr val="1F3A5F"/>
                </a:solidFill>
                <a:latin typeface="Georgia"/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593056" y="13167360"/>
            <a:ext cx="3803904" cy="36576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7593056" y="13533120"/>
            <a:ext cx="3803904" cy="146304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7593056" y="13624560"/>
            <a:ext cx="3803904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1F1F1F"/>
                </a:solidFill>
                <a:latin typeface="Georgia"/>
              </a:rPr>
              <a:t>≥ 1000 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593056" y="14127480"/>
            <a:ext cx="3803904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706A58"/>
                </a:solidFill>
                <a:latin typeface="Arial"/>
              </a:rPr>
              <a:t>large-bodied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8353836" y="14493240"/>
            <a:ext cx="2282342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[[SILHOUETTE]]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51560" y="14881859"/>
            <a:ext cx="2034540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74520" y="14881859"/>
            <a:ext cx="1943100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Results</a:t>
            </a:r>
          </a:p>
        </p:txBody>
      </p:sp>
      <p:sp>
        <p:nvSpPr>
          <p:cNvPr id="80" name="Oval 79"/>
          <p:cNvSpPr/>
          <p:nvPr/>
        </p:nvSpPr>
        <p:spPr>
          <a:xfrm>
            <a:off x="548640" y="1481328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1481328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④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Species-accumulation curves — when does an array look complete?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6937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+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383779" y="20619719"/>
            <a:ext cx="5829299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Binomial CI-gap — how many species could still be missing?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304519" y="16093439"/>
            <a:ext cx="822960" cy="44805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200" b="1" i="0">
                <a:solidFill>
                  <a:srgbClr val="C7623C"/>
                </a:solidFill>
                <a:latin typeface="Georgia"/>
              </a:rPr>
              <a:t>=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4218919" y="16093439"/>
            <a:ext cx="7178040" cy="18288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493240" y="16093439"/>
            <a:ext cx="6629400" cy="18288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F6EFD8"/>
                </a:solidFill>
                <a:latin typeface="Georgia"/>
              </a:rPr>
              <a:t>SAC alone misclassifies 4.4% of array-years as adequate.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218919" y="20619719"/>
            <a:ext cx="71780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706A58"/>
                </a:solidFill>
                <a:latin typeface="Georgia"/>
              </a:rPr>
              <a:t>False-plateau array-years — apparent completeness but missed species.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1560" y="21099780"/>
            <a:ext cx="9646919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874520" y="21099780"/>
            <a:ext cx="8732519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Supporting Analysis</a:t>
            </a:r>
          </a:p>
        </p:txBody>
      </p:sp>
      <p:sp>
        <p:nvSpPr>
          <p:cNvPr id="97" name="Oval 96"/>
          <p:cNvSpPr/>
          <p:nvPr/>
        </p:nvSpPr>
        <p:spPr>
          <a:xfrm>
            <a:off x="548640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59" y="22219920"/>
            <a:ext cx="960120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Community composition is most stable for mammals above 100 g. Below 50 g, sparse detections drive high variance in both accumulation curves and IUCN overlap. Multi-year rollups (2019–2024) dampen single-year noise. Calendar-night effort — not camera-night, which inflates ~10× — is the correct denominator when pooling across arrays.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750039" y="21099780"/>
            <a:ext cx="9646920" cy="868680"/>
          </a:xfrm>
          <a:prstGeom prst="rect">
            <a:avLst/>
          </a:prstGeom>
          <a:solidFill>
            <a:srgbClr val="E8DEBF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2572999" y="21099780"/>
            <a:ext cx="8732520" cy="8686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600" b="1" i="0">
                <a:solidFill>
                  <a:srgbClr val="1F1F1F"/>
                </a:solidFill>
                <a:latin typeface="Georgia"/>
              </a:rPr>
              <a:t>Takeaways &amp; Next Steps</a:t>
            </a:r>
          </a:p>
        </p:txBody>
      </p:sp>
      <p:sp>
        <p:nvSpPr>
          <p:cNvPr id="104" name="Oval 103"/>
          <p:cNvSpPr/>
          <p:nvPr/>
        </p:nvSpPr>
        <p:spPr>
          <a:xfrm>
            <a:off x="11247119" y="21031200"/>
            <a:ext cx="1005840" cy="1005840"/>
          </a:xfrm>
          <a:prstGeom prst="ellipse">
            <a:avLst/>
          </a:prstGeom>
          <a:solidFill>
            <a:srgbClr val="1F3A5F"/>
          </a:solidFill>
          <a:ln w="1587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1247119" y="21031200"/>
            <a:ext cx="100584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⑥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521440" y="2234793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1722607" y="2221992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Empirical and modeled biodiversity views mostly agree for mid-sized mammals.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521440" y="2335377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722607" y="2322576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SAC alone under-reports sampling gaps; the CI-gap classifier catches false plateaus.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521440" y="2435961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722607" y="2423160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Cross-source validation is a cheap, reproducible audit for any camera-trap benchmark.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521440" y="25365456"/>
            <a:ext cx="109728" cy="109728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722607" y="25237440"/>
            <a:ext cx="9381744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1F1F1F"/>
                </a:solidFill>
                <a:latin typeface="Arial"/>
              </a:rPr>
              <a:t>Next: extend to body-mass and guild-level stratified audits across all SSUSA years.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521440" y="26517600"/>
            <a:ext cx="850391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Arial"/>
              </a:rPr>
              <a:t>github.com / cliff003/ HAAG_Spatial_Camera_Trap_Fall2025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solidFill>
            <a:srgbClr val="F6EFD8"/>
          </a:solidFill>
          <a:ln w="12700">
            <a:solidFill>
              <a:srgbClr val="1F1F1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9933919" y="26791920"/>
            <a:ext cx="118872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706A58"/>
                </a:solidFill>
                <a:latin typeface="Arial"/>
              </a:rPr>
              <a:t>[[QR]]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37160" y="493776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37160" y="987552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  <a:ln w="9525">
            <a:solidFill>
              <a:srgbClr val="CFC7A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1442680" y="16916400"/>
            <a:ext cx="3657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06A58"/>
                </a:solidFill>
                <a:latin typeface="Arial"/>
              </a:rPr>
              <a:t>[[SILH]]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30632400"/>
            <a:ext cx="20848320" cy="36576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978140" y="30742127"/>
            <a:ext cx="502920" cy="274320"/>
          </a:xfrm>
          <a:prstGeom prst="rect">
            <a:avLst/>
          </a:prstGeom>
          <a:solidFill>
            <a:srgbClr val="F6EFD8"/>
          </a:solidFill>
          <a:ln w="6350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8867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#F6EFD8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26780" y="30742127"/>
            <a:ext cx="502920" cy="274320"/>
          </a:xfrm>
          <a:prstGeom prst="rect">
            <a:avLst/>
          </a:prstGeom>
          <a:solidFill>
            <a:srgbClr val="E8D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4353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#E8DEBF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075420" y="30742127"/>
            <a:ext cx="502920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9839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#1F1F1F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624060" y="30742127"/>
            <a:ext cx="502920" cy="2743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326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#1F3A5F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172700" y="30742127"/>
            <a:ext cx="502920" cy="274320"/>
          </a:xfrm>
          <a:prstGeom prst="rect">
            <a:avLst/>
          </a:prstGeom>
          <a:solidFill>
            <a:srgbClr val="C76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0812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#C7623C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721340" y="30742127"/>
            <a:ext cx="502920" cy="274320"/>
          </a:xfrm>
          <a:prstGeom prst="rect">
            <a:avLst/>
          </a:prstGeom>
          <a:solidFill>
            <a:srgbClr val="3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299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#3F6B3A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269980" y="30742127"/>
            <a:ext cx="502920" cy="274320"/>
          </a:xfrm>
          <a:prstGeom prst="rect">
            <a:avLst/>
          </a:prstGeom>
          <a:solidFill>
            <a:srgbClr val="D9B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17854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#D9B24F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1818620" y="30742127"/>
            <a:ext cx="502920" cy="274320"/>
          </a:xfrm>
          <a:prstGeom prst="rect">
            <a:avLst/>
          </a:prstGeom>
          <a:solidFill>
            <a:srgbClr val="6F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172718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#6FA0B8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2367260" y="30742127"/>
            <a:ext cx="502920" cy="274320"/>
          </a:xfrm>
          <a:prstGeom prst="rect">
            <a:avLst/>
          </a:prstGeom>
          <a:solidFill>
            <a:srgbClr val="B5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227582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#B5785A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2915900" y="30742127"/>
            <a:ext cx="502920" cy="274320"/>
          </a:xfrm>
          <a:prstGeom prst="rect">
            <a:avLst/>
          </a:prstGeom>
          <a:solidFill>
            <a:srgbClr val="70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82446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#706A58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3464540" y="30742127"/>
            <a:ext cx="502920" cy="274320"/>
          </a:xfrm>
          <a:prstGeom prst="rect">
            <a:avLst/>
          </a:prstGeom>
          <a:solidFill>
            <a:srgbClr val="CFC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3373100" y="31034735"/>
            <a:ext cx="685800" cy="137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0" i="0">
                <a:solidFill>
                  <a:srgbClr val="706A58"/>
                </a:solidFill>
                <a:latin typeface="Arial"/>
              </a:rPr>
              <a:t>#CFC7AB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706A58"/>
                </a:solidFill>
                <a:latin typeface="Arial"/>
              </a:rPr>
              <a:t>Human-Augmented Analytics Group · Georgia Tech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15200" y="31565087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706A58"/>
                </a:solidFill>
                <a:latin typeface="Arial"/>
              </a:rPr>
              <a:t>OMSCS Conference 2026 · Poster &amp; Demo Session · May 12, 2026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630400" y="31565087"/>
            <a:ext cx="6766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200" b="0" i="0">
                <a:solidFill>
                  <a:srgbClr val="706A58"/>
                </a:solidFill>
                <a:latin typeface="Arial"/>
              </a:rPr>
              <a:t>[[FILL: presenter email]]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8288000" y="32598360"/>
            <a:ext cx="3200400" cy="22860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r"/>
            <a:r>
              <a:rPr sz="800" b="0" i="0">
                <a:solidFill>
                  <a:srgbClr val="B4B4B4"/>
                </a:solidFill>
                <a:latin typeface="Arial"/>
              </a:rPr>
              <a:t>v0.4.0 · 2026-04-20 17:28</a:t>
            </a:r>
          </a:p>
        </p:txBody>
      </p:sp>
      <p:pic>
        <p:nvPicPr>
          <p:cNvPr id="152" name="Picture 151" descr="V1_hero_agreement_jac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19" y="3611880"/>
            <a:ext cx="10149840" cy="7406640"/>
          </a:xfrm>
          <a:prstGeom prst="rect">
            <a:avLst/>
          </a:prstGeom>
        </p:spPr>
      </p:pic>
      <p:pic>
        <p:nvPicPr>
          <p:cNvPr id="153" name="Picture 152" descr="V6_boxA_sac_by_m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93439"/>
            <a:ext cx="5829299" cy="4480559"/>
          </a:xfrm>
          <a:prstGeom prst="rect">
            <a:avLst/>
          </a:prstGeom>
        </p:spPr>
      </p:pic>
      <p:pic>
        <p:nvPicPr>
          <p:cNvPr id="154" name="Picture 153" descr="V7_boxB_ci_gap_by_eff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779" y="16093439"/>
            <a:ext cx="5829299" cy="4480559"/>
          </a:xfrm>
          <a:prstGeom prst="rect">
            <a:avLst/>
          </a:prstGeom>
        </p:spPr>
      </p:pic>
      <p:pic>
        <p:nvPicPr>
          <p:cNvPr id="155" name="Picture 154" descr="V10_boxC_false_plateau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8919" y="18059399"/>
            <a:ext cx="7178040" cy="2514600"/>
          </a:xfrm>
          <a:prstGeom prst="rect">
            <a:avLst/>
          </a:prstGeom>
        </p:spPr>
      </p:pic>
      <p:pic>
        <p:nvPicPr>
          <p:cNvPr id="156" name="Picture 155" descr="V11_supporting_jaccard_trajec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25466039"/>
            <a:ext cx="9601200" cy="3108960"/>
          </a:xfrm>
          <a:prstGeom prst="rect">
            <a:avLst/>
          </a:prstGeom>
        </p:spPr>
      </p:pic>
      <p:pic>
        <p:nvPicPr>
          <p:cNvPr id="157" name="Picture 156" descr="V5_fieldplate_flagship_drilldo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07840" y="27889200"/>
            <a:ext cx="438912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