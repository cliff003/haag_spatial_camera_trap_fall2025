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6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Georgia"/>
              </a:rPr>
              <a:t>GEORGIA TECH · HUMAN-AUGMENTED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706A58"/>
                </a:solidFill>
                <a:latin typeface="Georgia"/>
              </a:rPr>
              <a:t>Spatial Camera-Trap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Cliff [[FILL: surname]]  ·  Kefei Yan  ·  Jacquie Carroll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Neelima Pandey  · 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06A58"/>
                </a:solidFill>
                <a:latin typeface="Arial"/>
              </a:rPr>
              <a:t>Advisors:  Jenny McGuire  ·  Steve Mussmann  ·  Emily Weigel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OMSCS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457200"/>
            <a:ext cx="1060704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600" b="1" i="0">
                <a:solidFill>
                  <a:srgbClr val="1F1F1F"/>
                </a:solidFill>
                <a:latin typeface="Georgia"/>
              </a:rPr>
              <a:t>Do cameras and range maps see the same biodiversity?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560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1F3A5F"/>
                </a:solidFill>
                <a:latin typeface="Georgia"/>
              </a:rPr>
              <a:t>Bridging Empirical and Modeled Biodiversity:  Snapshot USA × IUCN ×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0848320" cy="457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680460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680460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96926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Across the U.S., camera traps record mammals through Snapshot USA (SSUSA). IUCN Red List maps — drawn largely from expert opinion — are the global standard for species ranges. The two views of biodiversity are rarely checked against each other, so misalignments persist unnoticed in conservation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7680960"/>
            <a:ext cx="73152" cy="155448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589520"/>
            <a:ext cx="9418319" cy="1737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1F3A5F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10642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Hero: cross-source agreement mapped by ecoregion.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8846819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8846819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Data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877824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SSUSA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713,319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109 species  ·  2019–2024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04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IUCN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733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04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575 species  ·  Red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12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COMBINE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712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712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6,110 species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712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Body-mass traits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11955780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11955780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Body-Mass Strata — where SAC is computed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11887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1887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3167360"/>
            <a:ext cx="3803904" cy="36576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≤ 50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small-bodied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744" y="13167360"/>
            <a:ext cx="3803904" cy="36576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9744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50–100 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13167360"/>
            <a:ext cx="3803904" cy="36576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100–500 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20472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1952" y="13167360"/>
            <a:ext cx="3803904" cy="36576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331952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331952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500–1000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31952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medium-large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81576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593056" y="13167360"/>
            <a:ext cx="3803904" cy="36576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593056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93056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≥ 1000 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93056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large-bodied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" y="14881859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14881859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Results</a:t>
            </a:r>
          </a:p>
        </p:txBody>
      </p:sp>
      <p:sp>
        <p:nvSpPr>
          <p:cNvPr id="80" name="Oval 79"/>
          <p:cNvSpPr/>
          <p:nvPr/>
        </p:nvSpPr>
        <p:spPr>
          <a:xfrm>
            <a:off x="548640" y="148132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148132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Species-accumulation curves — when does an array look complete?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937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3779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Binomial CI-gap — how many species could still be missing?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0451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18919" y="16093439"/>
            <a:ext cx="7178040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493240" y="16093439"/>
            <a:ext cx="66294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F6EFD8"/>
                </a:solidFill>
                <a:latin typeface="Georgia"/>
              </a:rPr>
              <a:t>SAC alone misclassifies 4.4% of array-years as adequate.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18919" y="20619719"/>
            <a:ext cx="7178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False-plateau array-years — apparent completeness but missed species.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21099780"/>
            <a:ext cx="964691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74520" y="21099780"/>
            <a:ext cx="873251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Supporting Analysis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59" y="22219920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 Calendar-night effort — not camera-night, which inflates ~10× — is the correct denominator when pooling across arrays.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50039" y="21099780"/>
            <a:ext cx="964692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72999" y="21099780"/>
            <a:ext cx="873252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104" name="Oval 103"/>
          <p:cNvSpPr/>
          <p:nvPr/>
        </p:nvSpPr>
        <p:spPr>
          <a:xfrm>
            <a:off x="11247119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47119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2234793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722607" y="2221992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Empirical and modeled biodiversity views mostly agree for mid-sized mammals.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521440" y="2335377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722607" y="2322576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SAC alone under-reports sampling gaps; the CI-gap classifier catches false plateaus.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1440" y="2435961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722607" y="2423160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Cross-source validation is a cheap, reproducible audit for any camera-trap benchmark.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521440" y="2536545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722607" y="2523744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Next: extend to body-mass and guild-level stratified audits across all SSUSA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26517600"/>
            <a:ext cx="85039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github.com / cliff003/ HAAG_Spatial_Camera_Trap_Fall2025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706A58"/>
                </a:solidFill>
                <a:latin typeface="Arial"/>
              </a:rPr>
              <a:t>[[QR]]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3063240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978140" y="30742127"/>
            <a:ext cx="502920" cy="274320"/>
          </a:xfrm>
          <a:prstGeom prst="rect">
            <a:avLst/>
          </a:prstGeom>
          <a:solidFill>
            <a:srgbClr val="F6EFD8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867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#F6EFD8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6780" y="30742127"/>
            <a:ext cx="502920" cy="274320"/>
          </a:xfrm>
          <a:prstGeom prst="rect">
            <a:avLst/>
          </a:prstGeom>
          <a:solidFill>
            <a:srgbClr val="E8D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53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#E8DEBF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75420" y="30742127"/>
            <a:ext cx="502920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839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#1F1F1F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24060" y="30742127"/>
            <a:ext cx="502920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326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#1F3A5F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72700" y="30742127"/>
            <a:ext cx="502920" cy="2743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812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#C7623C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721340" y="30742127"/>
            <a:ext cx="502920" cy="27432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299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#3F6B3A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69980" y="30742127"/>
            <a:ext cx="502920" cy="27432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785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#D9B24F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18620" y="30742127"/>
            <a:ext cx="502920" cy="27432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271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#6FA0B8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67260" y="30742127"/>
            <a:ext cx="502920" cy="27432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758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#B5785A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15900" y="30742127"/>
            <a:ext cx="502920" cy="274320"/>
          </a:xfrm>
          <a:prstGeom prst="rect">
            <a:avLst/>
          </a:prstGeom>
          <a:solidFill>
            <a:srgbClr val="70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8244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#706A58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464540" y="30742127"/>
            <a:ext cx="502920" cy="274320"/>
          </a:xfrm>
          <a:prstGeom prst="rect">
            <a:avLst/>
          </a:prstGeom>
          <a:solidFill>
            <a:srgbClr val="CF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731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#CFC7AB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Human-Augmented Analytics Group · Georgia Tech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706A58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0" y="31565087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706A58"/>
                </a:solidFill>
                <a:latin typeface="Arial"/>
              </a:rPr>
              <a:t>[[FILL: presenter email]]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0" y="3259836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B4B4B4"/>
                </a:solidFill>
                <a:latin typeface="Arial"/>
              </a:rPr>
              <a:t>v0.4.0 · 2026-04-20 17:28</a:t>
            </a:r>
          </a:p>
        </p:txBody>
      </p:sp>
      <p:pic>
        <p:nvPicPr>
          <p:cNvPr id="152" name="Picture 151" descr="H3_hero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19" y="3611880"/>
            <a:ext cx="10149840" cy="7406640"/>
          </a:xfrm>
          <a:prstGeom prst="rect">
            <a:avLst/>
          </a:prstGeom>
        </p:spPr>
      </p:pic>
      <p:pic>
        <p:nvPicPr>
          <p:cNvPr id="153" name="Picture 152" descr="V6_boxA_sac_by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3439"/>
            <a:ext cx="5829299" cy="4480559"/>
          </a:xfrm>
          <a:prstGeom prst="rect">
            <a:avLst/>
          </a:prstGeom>
        </p:spPr>
      </p:pic>
      <p:pic>
        <p:nvPicPr>
          <p:cNvPr id="154" name="Picture 153" descr="B3_boxB_jaccard_effort_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79" y="16093439"/>
            <a:ext cx="5829299" cy="4480559"/>
          </a:xfrm>
          <a:prstGeom prst="rect">
            <a:avLst/>
          </a:prstGeom>
        </p:spPr>
      </p:pic>
      <p:pic>
        <p:nvPicPr>
          <p:cNvPr id="155" name="Picture 154" descr="C1_boxC_jaccard_effort_by_habit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919" y="18059399"/>
            <a:ext cx="7178040" cy="2514600"/>
          </a:xfrm>
          <a:prstGeom prst="rect">
            <a:avLst/>
          </a:prstGeom>
        </p:spPr>
      </p:pic>
      <p:pic>
        <p:nvPicPr>
          <p:cNvPr id="156" name="Picture 155" descr="S1_supporting_rf_impor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5466039"/>
            <a:ext cx="9601200" cy="3108960"/>
          </a:xfrm>
          <a:prstGeom prst="rect">
            <a:avLst/>
          </a:prstGeom>
        </p:spPr>
      </p:pic>
      <p:pic>
        <p:nvPicPr>
          <p:cNvPr id="157" name="Picture 156" descr="V5_fieldplate_flagship_drill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0" y="278892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